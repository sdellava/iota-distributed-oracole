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59" r:id="rId6"/>
    <p:sldId id="261" r:id="rId7"/>
    <p:sldId id="263" r:id="rId8"/>
    <p:sldId id="260" r:id="rId9"/>
    <p:sldId id="262" r:id="rId10"/>
    <p:sldId id="264" r:id="rId11"/>
    <p:sldId id="265" r:id="rId12"/>
    <p:sldId id="268" r:id="rId13"/>
    <p:sldId id="266" r:id="rId14"/>
    <p:sldId id="26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6AF9B-9E8C-4BCA-8E0B-89950540E1D2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902D9-D56A-45FF-9D5A-42A00449A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6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902D9-D56A-45FF-9D5A-42A00449A87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2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544EE-B649-0759-A3E6-D65890294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27AE850-AC19-0AAD-09F9-76292F059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2FA35D-75C2-55FC-CD9F-0DE8918C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09B6DC-2BB0-4610-8FCB-B324EBD6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260086-0F4A-05D1-3B1E-78221FF4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66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5DBC6C-ADAC-B427-10F4-9A68E1EFC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4228B2-C04E-CBDC-8E19-C11AD382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D1D61A-C7C6-C65A-21A1-AD391C4E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5E6D49-654B-9DF7-5C74-B5734174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BACC65-E04E-2114-1E81-23A51E0E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3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83D75B-B0F0-9E1E-FFB6-AD3C5A60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CA60B5-1456-80D8-8867-54ADD9AA9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5AFEC4-CBFF-9C00-9BF8-7D25887C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ACB114-F90C-3090-DD7C-CBAD5082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8F9F28-4CB3-AA18-03CF-52C71EC7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12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C8D23B-1CED-3432-A27F-6A11FAE9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AE07D5-E9F4-117F-3858-E7828E9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F756E47-17D1-0126-1686-93933B144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57072A-A888-D909-E6EB-842E9711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7010BF-8454-A987-3141-35280F6C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D708B1-D82F-D28D-ACB3-E1F57146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07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AD47EC-794E-A44A-99AF-F7273C91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304F5B-F066-C1BE-B85D-EDA7D19CC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EDCF8C4-5490-0629-9A73-4AE628718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85EA2A8-B256-60A3-FD6C-4957ECF00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262C41B-6F22-A150-E95C-1D068E32D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0EBB61D-27AE-E36C-77E7-9FFD844A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B495A9D-9436-065E-4238-A4F9D42A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5E563A2-494E-54EE-DDF6-352AE590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62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B36DD6-6CBC-749A-E160-E89F7E5C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CA4A98E-3FD1-EC94-A560-6B99E83D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AC636DF-5893-8D10-C178-49580798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6CD449C-F46B-5596-44E0-D9AE653C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464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5316B5B-19DD-BD7C-14AB-D06D7423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8F3C195-B286-76D7-76F8-86C802DE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D2AFF5-5C6F-AC5C-E55B-DCBB52F8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49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7CDE81-872A-17A3-8009-D5C9BCA9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49D5F8-F641-D8C6-40F1-7481E593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D796905-53F9-CDE6-6D1A-43F02CFD7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75EE9F-D57E-7C71-04D0-807EE4E5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A13772C-E467-B40D-F74F-B6791E78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9BBBA2-13AF-C58F-DAE0-35C6505D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63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4CBCA4-4ECF-F86F-96C3-5565DE26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4A2F583-7668-5BC3-EB27-AD96405D7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FDA34CA-B72E-A92D-1B3A-E3832AFE0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D566F0A-8CAC-76F5-B0F7-D29D49F5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521749-0B4E-3D87-0E62-86CC3191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D5EB7F-9691-C7EB-2EAD-6983EDA1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00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B1D3A-504E-3633-56DE-4CE8CAB0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3CA63C4-BA35-24F4-62CE-1E06A8F20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6407D0-0FFD-EE50-4770-234254C3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9F108E-02B3-3E9A-4523-10BA401E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3BD251-5E7B-5EA5-CD07-C43E471A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49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11F7F5E-D418-DC13-E14C-5D479480B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C422176-4A6D-210C-113C-D4D5A3291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B38688-7D34-458F-BFF7-8AD322AB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F3F26B-C388-4BE0-131F-B0CF0493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E4D284-3D28-0D97-006A-78EBDC8B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30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6D34D04-2C9F-0D07-C8E3-3D8473DE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61993A-CA1B-378F-179B-6716653A4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57B95E-FA62-3988-8538-74F8B25D0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2E6D1-204C-47C6-8DDA-72B6E5247303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0DEB0A-5DF2-72A0-1ECB-C4002B843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E7E483-5CC0-76AD-1DC8-538C2880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8691F-1872-4249-9FB3-5610C66226B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65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3E24D-927F-2A04-4E75-432114FAA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Introducing </a:t>
            </a:r>
            <a:br>
              <a:rPr lang="en-GB" dirty="0"/>
            </a:br>
            <a:r>
              <a:rPr lang="en-GB" dirty="0"/>
              <a:t>IOTA  Decentralized Oracle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03F00C-047F-3755-B0E9-E5C2C93D5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Stefano Della Valle </a:t>
            </a:r>
            <a:br>
              <a:rPr lang="en-GB" dirty="0"/>
            </a:br>
            <a:r>
              <a:rPr lang="en-GB" dirty="0"/>
              <a:t>SDV Consulting SRLS</a:t>
            </a:r>
          </a:p>
        </p:txBody>
      </p:sp>
    </p:spTree>
    <p:extLst>
      <p:ext uri="{BB962C8B-B14F-4D97-AF65-F5344CB8AC3E}">
        <p14:creationId xmlns:p14="http://schemas.microsoft.com/office/powerpoint/2010/main" val="335917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533AE8-DD12-6570-A20D-6B1EE73B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Decentralized Oracle?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9C1B4A-B9C8-F1CE-2507-707F7A03E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decentralized oracle is a network of independent nodes that securely verifies and delivers real-world data to smart contracts without relying on a single trusted source.</a:t>
            </a:r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7BC3D513-9B67-37E7-769F-B9927B90C1F0}"/>
              </a:ext>
            </a:extLst>
          </p:cNvPr>
          <p:cNvGrpSpPr/>
          <p:nvPr/>
        </p:nvGrpSpPr>
        <p:grpSpPr>
          <a:xfrm>
            <a:off x="4066708" y="3463004"/>
            <a:ext cx="3236898" cy="2864544"/>
            <a:chOff x="2914292" y="3302241"/>
            <a:chExt cx="3804943" cy="3367244"/>
          </a:xfrm>
        </p:grpSpPr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C38A7373-00BE-F691-2642-0F9347547313}"/>
                </a:ext>
              </a:extLst>
            </p:cNvPr>
            <p:cNvGrpSpPr/>
            <p:nvPr/>
          </p:nvGrpSpPr>
          <p:grpSpPr>
            <a:xfrm>
              <a:off x="2914292" y="3302241"/>
              <a:ext cx="3804943" cy="3367244"/>
              <a:chOff x="2003749" y="3915383"/>
              <a:chExt cx="1813069" cy="1905561"/>
            </a:xfrm>
          </p:grpSpPr>
          <p:sp>
            <p:nvSpPr>
              <p:cNvPr id="9" name="Ovale 8">
                <a:extLst>
                  <a:ext uri="{FF2B5EF4-FFF2-40B4-BE49-F238E27FC236}">
                    <a16:creationId xmlns:a16="http://schemas.microsoft.com/office/drawing/2014/main" id="{EE623D42-7112-AE69-732F-4084D42CA8AE}"/>
                  </a:ext>
                </a:extLst>
              </p:cNvPr>
              <p:cNvSpPr/>
              <p:nvPr/>
            </p:nvSpPr>
            <p:spPr>
              <a:xfrm>
                <a:off x="2003749" y="4147302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e 9">
                <a:extLst>
                  <a:ext uri="{FF2B5EF4-FFF2-40B4-BE49-F238E27FC236}">
                    <a16:creationId xmlns:a16="http://schemas.microsoft.com/office/drawing/2014/main" id="{97734E92-B62A-C875-CAE5-583DB861A04D}"/>
                  </a:ext>
                </a:extLst>
              </p:cNvPr>
              <p:cNvSpPr/>
              <p:nvPr/>
            </p:nvSpPr>
            <p:spPr>
              <a:xfrm>
                <a:off x="2656527" y="3915383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e 10">
                <a:extLst>
                  <a:ext uri="{FF2B5EF4-FFF2-40B4-BE49-F238E27FC236}">
                    <a16:creationId xmlns:a16="http://schemas.microsoft.com/office/drawing/2014/main" id="{FA0CD0B6-E850-BC06-C533-CDA78A86639D}"/>
                  </a:ext>
                </a:extLst>
              </p:cNvPr>
              <p:cNvSpPr/>
              <p:nvPr/>
            </p:nvSpPr>
            <p:spPr>
              <a:xfrm>
                <a:off x="2742073" y="4458494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e 11">
                <a:extLst>
                  <a:ext uri="{FF2B5EF4-FFF2-40B4-BE49-F238E27FC236}">
                    <a16:creationId xmlns:a16="http://schemas.microsoft.com/office/drawing/2014/main" id="{7F734164-7ECF-B0BA-741A-57844F26FB68}"/>
                  </a:ext>
                </a:extLst>
              </p:cNvPr>
              <p:cNvSpPr/>
              <p:nvPr/>
            </p:nvSpPr>
            <p:spPr>
              <a:xfrm>
                <a:off x="2109360" y="4506511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e 12">
                <a:extLst>
                  <a:ext uri="{FF2B5EF4-FFF2-40B4-BE49-F238E27FC236}">
                    <a16:creationId xmlns:a16="http://schemas.microsoft.com/office/drawing/2014/main" id="{A85B288D-5FCC-6D2D-8F36-4C14F9B53452}"/>
                  </a:ext>
                </a:extLst>
              </p:cNvPr>
              <p:cNvSpPr/>
              <p:nvPr/>
            </p:nvSpPr>
            <p:spPr>
              <a:xfrm>
                <a:off x="2425716" y="4949880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B6AA19C2-CD34-5F4A-5F22-E4951E2C66AA}"/>
                  </a:ext>
                </a:extLst>
              </p:cNvPr>
              <p:cNvSpPr/>
              <p:nvPr/>
            </p:nvSpPr>
            <p:spPr>
              <a:xfrm>
                <a:off x="2227612" y="4199033"/>
                <a:ext cx="1382830" cy="124977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6" name="Elemento grafico 5" descr="Server contorno">
              <a:extLst>
                <a:ext uri="{FF2B5EF4-FFF2-40B4-BE49-F238E27FC236}">
                  <a16:creationId xmlns:a16="http://schemas.microsoft.com/office/drawing/2014/main" id="{40E5859E-32E9-137A-06A9-BB44FBECF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27580" y="3729846"/>
              <a:ext cx="914400" cy="914400"/>
            </a:xfrm>
            <a:prstGeom prst="rect">
              <a:avLst/>
            </a:prstGeom>
          </p:spPr>
        </p:pic>
        <p:pic>
          <p:nvPicPr>
            <p:cNvPr id="7" name="Elemento grafico 6" descr="Server contorno">
              <a:extLst>
                <a:ext uri="{FF2B5EF4-FFF2-40B4-BE49-F238E27FC236}">
                  <a16:creationId xmlns:a16="http://schemas.microsoft.com/office/drawing/2014/main" id="{60E6A3F1-C7D5-729E-71FB-31D01D329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02364" y="4593431"/>
              <a:ext cx="914400" cy="914400"/>
            </a:xfrm>
            <a:prstGeom prst="rect">
              <a:avLst/>
            </a:prstGeom>
          </p:spPr>
        </p:pic>
        <p:pic>
          <p:nvPicPr>
            <p:cNvPr id="8" name="Elemento grafico 7" descr="Server contorno">
              <a:extLst>
                <a:ext uri="{FF2B5EF4-FFF2-40B4-BE49-F238E27FC236}">
                  <a16:creationId xmlns:a16="http://schemas.microsoft.com/office/drawing/2014/main" id="{F838F8E5-ECD1-A8E4-8C0F-09129E78C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70279" y="5244131"/>
              <a:ext cx="914400" cy="914400"/>
            </a:xfrm>
            <a:prstGeom prst="rect">
              <a:avLst/>
            </a:prstGeom>
          </p:spPr>
        </p:pic>
      </p:grpSp>
      <p:pic>
        <p:nvPicPr>
          <p:cNvPr id="1029" name="Picture 5">
            <a:extLst>
              <a:ext uri="{FF2B5EF4-FFF2-40B4-BE49-F238E27FC236}">
                <a16:creationId xmlns:a16="http://schemas.microsoft.com/office/drawing/2014/main" id="{58B22BB6-37F1-B932-1133-9996AC36E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803" y="4450938"/>
            <a:ext cx="1951910" cy="65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EBB3DA19-E377-D8AA-E6C2-A6FDF00AB3E3}"/>
              </a:ext>
            </a:extLst>
          </p:cNvPr>
          <p:cNvGrpSpPr/>
          <p:nvPr/>
        </p:nvGrpSpPr>
        <p:grpSpPr>
          <a:xfrm>
            <a:off x="482946" y="3429000"/>
            <a:ext cx="3251454" cy="2877424"/>
            <a:chOff x="2914292" y="3302241"/>
            <a:chExt cx="3804943" cy="3367244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3A14633E-7868-B5C6-A3FA-E58BC75D28BE}"/>
                </a:ext>
              </a:extLst>
            </p:cNvPr>
            <p:cNvGrpSpPr/>
            <p:nvPr/>
          </p:nvGrpSpPr>
          <p:grpSpPr>
            <a:xfrm>
              <a:off x="2914292" y="3302241"/>
              <a:ext cx="3804943" cy="3367244"/>
              <a:chOff x="2003749" y="3915383"/>
              <a:chExt cx="1813069" cy="1905561"/>
            </a:xfrm>
          </p:grpSpPr>
          <p:sp>
            <p:nvSpPr>
              <p:cNvPr id="22" name="Ovale 21">
                <a:extLst>
                  <a:ext uri="{FF2B5EF4-FFF2-40B4-BE49-F238E27FC236}">
                    <a16:creationId xmlns:a16="http://schemas.microsoft.com/office/drawing/2014/main" id="{EC8C73CE-FDD4-2D95-D4E1-23BE7980148A}"/>
                  </a:ext>
                </a:extLst>
              </p:cNvPr>
              <p:cNvSpPr/>
              <p:nvPr/>
            </p:nvSpPr>
            <p:spPr>
              <a:xfrm>
                <a:off x="2003749" y="4147302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93DF226A-D6B2-7677-0398-3663DACAAC99}"/>
                  </a:ext>
                </a:extLst>
              </p:cNvPr>
              <p:cNvSpPr/>
              <p:nvPr/>
            </p:nvSpPr>
            <p:spPr>
              <a:xfrm>
                <a:off x="2656527" y="3915383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e 23">
                <a:extLst>
                  <a:ext uri="{FF2B5EF4-FFF2-40B4-BE49-F238E27FC236}">
                    <a16:creationId xmlns:a16="http://schemas.microsoft.com/office/drawing/2014/main" id="{E9888331-D6F2-71B1-1B70-FE7508B6B3FD}"/>
                  </a:ext>
                </a:extLst>
              </p:cNvPr>
              <p:cNvSpPr/>
              <p:nvPr/>
            </p:nvSpPr>
            <p:spPr>
              <a:xfrm>
                <a:off x="2742073" y="4458494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e 24">
                <a:extLst>
                  <a:ext uri="{FF2B5EF4-FFF2-40B4-BE49-F238E27FC236}">
                    <a16:creationId xmlns:a16="http://schemas.microsoft.com/office/drawing/2014/main" id="{0F0127AF-B5A9-9ED6-B6FD-6615E6BB1DA0}"/>
                  </a:ext>
                </a:extLst>
              </p:cNvPr>
              <p:cNvSpPr/>
              <p:nvPr/>
            </p:nvSpPr>
            <p:spPr>
              <a:xfrm>
                <a:off x="2109360" y="4506511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e 25">
                <a:extLst>
                  <a:ext uri="{FF2B5EF4-FFF2-40B4-BE49-F238E27FC236}">
                    <a16:creationId xmlns:a16="http://schemas.microsoft.com/office/drawing/2014/main" id="{6909C1F1-035C-7D7C-E2C4-364AEDA04361}"/>
                  </a:ext>
                </a:extLst>
              </p:cNvPr>
              <p:cNvSpPr/>
              <p:nvPr/>
            </p:nvSpPr>
            <p:spPr>
              <a:xfrm>
                <a:off x="2425716" y="4949880"/>
                <a:ext cx="1074745" cy="87106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Internet</a:t>
                </a:r>
              </a:p>
            </p:txBody>
          </p:sp>
          <p:sp>
            <p:nvSpPr>
              <p:cNvPr id="27" name="Ovale 26">
                <a:extLst>
                  <a:ext uri="{FF2B5EF4-FFF2-40B4-BE49-F238E27FC236}">
                    <a16:creationId xmlns:a16="http://schemas.microsoft.com/office/drawing/2014/main" id="{8266666B-191F-B9C1-9113-767EB79D8BAE}"/>
                  </a:ext>
                </a:extLst>
              </p:cNvPr>
              <p:cNvSpPr/>
              <p:nvPr/>
            </p:nvSpPr>
            <p:spPr>
              <a:xfrm>
                <a:off x="2235768" y="4203640"/>
                <a:ext cx="1382830" cy="124977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9" name="Elemento grafico 18" descr="Server contorno">
              <a:extLst>
                <a:ext uri="{FF2B5EF4-FFF2-40B4-BE49-F238E27FC236}">
                  <a16:creationId xmlns:a16="http://schemas.microsoft.com/office/drawing/2014/main" id="{5501B086-DAA8-94A5-007E-0F998F9AB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27580" y="3729846"/>
              <a:ext cx="914400" cy="914400"/>
            </a:xfrm>
            <a:prstGeom prst="rect">
              <a:avLst/>
            </a:prstGeom>
          </p:spPr>
        </p:pic>
        <p:pic>
          <p:nvPicPr>
            <p:cNvPr id="20" name="Elemento grafico 19" descr="Server contorno">
              <a:extLst>
                <a:ext uri="{FF2B5EF4-FFF2-40B4-BE49-F238E27FC236}">
                  <a16:creationId xmlns:a16="http://schemas.microsoft.com/office/drawing/2014/main" id="{A767B3CE-E9A4-D4AC-5157-C98D3C5B2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02364" y="4593431"/>
              <a:ext cx="914400" cy="914400"/>
            </a:xfrm>
            <a:prstGeom prst="rect">
              <a:avLst/>
            </a:prstGeom>
          </p:spPr>
        </p:pic>
        <p:pic>
          <p:nvPicPr>
            <p:cNvPr id="21" name="Elemento grafico 20" descr="Server contorno">
              <a:extLst>
                <a:ext uri="{FF2B5EF4-FFF2-40B4-BE49-F238E27FC236}">
                  <a16:creationId xmlns:a16="http://schemas.microsoft.com/office/drawing/2014/main" id="{3E5A81F1-EC02-CBE6-50C6-5EB1A9E32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63930" y="5038631"/>
              <a:ext cx="914400" cy="914400"/>
            </a:xfrm>
            <a:prstGeom prst="rect">
              <a:avLst/>
            </a:prstGeom>
          </p:spPr>
        </p:pic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0947BE1-878C-C8D5-115F-4957AB6A5B08}"/>
              </a:ext>
            </a:extLst>
          </p:cNvPr>
          <p:cNvSpPr txBox="1"/>
          <p:nvPr/>
        </p:nvSpPr>
        <p:spPr>
          <a:xfrm>
            <a:off x="2761892" y="5694966"/>
            <a:ext cx="6095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Oracle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56DB167E-BA94-FE77-2FE5-360FB5B6EF5F}"/>
              </a:ext>
            </a:extLst>
          </p:cNvPr>
          <p:cNvCxnSpPr>
            <a:cxnSpLocks/>
          </p:cNvCxnSpPr>
          <p:nvPr/>
        </p:nvCxnSpPr>
        <p:spPr>
          <a:xfrm>
            <a:off x="2973782" y="4086659"/>
            <a:ext cx="2688455" cy="1254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C0D3F08D-18EB-04CC-8001-B20A333B3B03}"/>
              </a:ext>
            </a:extLst>
          </p:cNvPr>
          <p:cNvCxnSpPr>
            <a:cxnSpLocks/>
          </p:cNvCxnSpPr>
          <p:nvPr/>
        </p:nvCxnSpPr>
        <p:spPr>
          <a:xfrm>
            <a:off x="6588241" y="4152820"/>
            <a:ext cx="916567" cy="4982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42BE31C5-BEC6-D71A-CEE2-ADA92CC9F603}"/>
              </a:ext>
            </a:extLst>
          </p:cNvPr>
          <p:cNvCxnSpPr>
            <a:cxnSpLocks/>
          </p:cNvCxnSpPr>
          <p:nvPr/>
        </p:nvCxnSpPr>
        <p:spPr>
          <a:xfrm flipV="1">
            <a:off x="6527693" y="5006335"/>
            <a:ext cx="1011950" cy="3724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AF6545F-1D72-41A8-E6C8-B0207D1C713B}"/>
              </a:ext>
            </a:extLst>
          </p:cNvPr>
          <p:cNvCxnSpPr>
            <a:cxnSpLocks/>
          </p:cNvCxnSpPr>
          <p:nvPr/>
        </p:nvCxnSpPr>
        <p:spPr>
          <a:xfrm flipV="1">
            <a:off x="5704355" y="4839772"/>
            <a:ext cx="1942206" cy="60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EF2E6E7E-2631-46F4-5C10-39D70A2A2134}"/>
              </a:ext>
            </a:extLst>
          </p:cNvPr>
          <p:cNvCxnSpPr>
            <a:cxnSpLocks/>
          </p:cNvCxnSpPr>
          <p:nvPr/>
        </p:nvCxnSpPr>
        <p:spPr>
          <a:xfrm>
            <a:off x="2996911" y="4256918"/>
            <a:ext cx="1980149" cy="586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40F8BA88-3B81-B587-7709-D544827EB907}"/>
              </a:ext>
            </a:extLst>
          </p:cNvPr>
          <p:cNvCxnSpPr>
            <a:cxnSpLocks/>
          </p:cNvCxnSpPr>
          <p:nvPr/>
        </p:nvCxnSpPr>
        <p:spPr>
          <a:xfrm>
            <a:off x="3046741" y="4424933"/>
            <a:ext cx="2781683" cy="10712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1CB2EFB6-A452-96E3-A155-27BCB2AD922F}"/>
              </a:ext>
            </a:extLst>
          </p:cNvPr>
          <p:cNvSpPr txBox="1"/>
          <p:nvPr/>
        </p:nvSpPr>
        <p:spPr>
          <a:xfrm>
            <a:off x="7380205" y="5952878"/>
            <a:ext cx="19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Consensus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D26EA473-90DE-D6A8-D46B-37E940F6FFD5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8231146" y="5313752"/>
            <a:ext cx="112705" cy="639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ocumento 48">
            <a:extLst>
              <a:ext uri="{FF2B5EF4-FFF2-40B4-BE49-F238E27FC236}">
                <a16:creationId xmlns:a16="http://schemas.microsoft.com/office/drawing/2014/main" id="{D6141D1C-B9D3-2E8B-15FA-12B2D7E54D49}"/>
              </a:ext>
            </a:extLst>
          </p:cNvPr>
          <p:cNvSpPr/>
          <p:nvPr/>
        </p:nvSpPr>
        <p:spPr>
          <a:xfrm>
            <a:off x="7730957" y="4498510"/>
            <a:ext cx="617032" cy="711667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793DF58C-0784-FA1F-D9FD-0CEA3D744803}"/>
              </a:ext>
            </a:extLst>
          </p:cNvPr>
          <p:cNvCxnSpPr>
            <a:cxnSpLocks/>
          </p:cNvCxnSpPr>
          <p:nvPr/>
        </p:nvCxnSpPr>
        <p:spPr>
          <a:xfrm>
            <a:off x="8433282" y="4757215"/>
            <a:ext cx="3687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cumento 52">
            <a:extLst>
              <a:ext uri="{FF2B5EF4-FFF2-40B4-BE49-F238E27FC236}">
                <a16:creationId xmlns:a16="http://schemas.microsoft.com/office/drawing/2014/main" id="{8F53DEFE-9180-6679-57E1-F8F7E63A6C55}"/>
              </a:ext>
            </a:extLst>
          </p:cNvPr>
          <p:cNvSpPr/>
          <p:nvPr/>
        </p:nvSpPr>
        <p:spPr>
          <a:xfrm>
            <a:off x="4195393" y="3753564"/>
            <a:ext cx="462213" cy="533103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Documento 54">
            <a:extLst>
              <a:ext uri="{FF2B5EF4-FFF2-40B4-BE49-F238E27FC236}">
                <a16:creationId xmlns:a16="http://schemas.microsoft.com/office/drawing/2014/main" id="{42702724-BE67-86E4-8654-4845256214A2}"/>
              </a:ext>
            </a:extLst>
          </p:cNvPr>
          <p:cNvSpPr/>
          <p:nvPr/>
        </p:nvSpPr>
        <p:spPr>
          <a:xfrm>
            <a:off x="3596353" y="4211216"/>
            <a:ext cx="462213" cy="533103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Documento 55">
            <a:extLst>
              <a:ext uri="{FF2B5EF4-FFF2-40B4-BE49-F238E27FC236}">
                <a16:creationId xmlns:a16="http://schemas.microsoft.com/office/drawing/2014/main" id="{3BD8EED3-3558-3CFF-5659-A83A861F8D6F}"/>
              </a:ext>
            </a:extLst>
          </p:cNvPr>
          <p:cNvSpPr/>
          <p:nvPr/>
        </p:nvSpPr>
        <p:spPr>
          <a:xfrm>
            <a:off x="4168742" y="4912970"/>
            <a:ext cx="462213" cy="533103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98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B978B-0A59-AD72-B0CD-253D633B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 principles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6127FE-ED81-9D17-EE34-17E33A461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No centralized control system: all tasks and steps are orchestrated by node using two MOVE Packages</a:t>
            </a:r>
          </a:p>
          <a:p>
            <a:r>
              <a:rPr lang="en-GB" dirty="0"/>
              <a:t>No TCP/IP exposure: all requests, information exchanges, results, etc. are transported via IOTA EVENTS</a:t>
            </a:r>
          </a:p>
          <a:p>
            <a:r>
              <a:rPr lang="en-GB" dirty="0"/>
              <a:t>No classroom attack: nodes proves their contribution with a signature and only after </a:t>
            </a:r>
            <a:r>
              <a:rPr lang="en-GB" dirty="0" err="1"/>
              <a:t>reacing</a:t>
            </a:r>
            <a:r>
              <a:rPr lang="en-GB" dirty="0"/>
              <a:t> a required quote, they reveal the hash of the results</a:t>
            </a:r>
          </a:p>
          <a:p>
            <a:r>
              <a:rPr lang="en-GB" dirty="0"/>
              <a:t>Consensus: the hash is signed with Multi-sign ED25519 signature method, then the Task Result is published</a:t>
            </a:r>
          </a:p>
          <a:p>
            <a:r>
              <a:rPr lang="en-GB" dirty="0"/>
              <a:t>In case the results is expected to be a number, an </a:t>
            </a:r>
            <a:r>
              <a:rPr lang="en-GB" dirty="0" err="1"/>
              <a:t>additiona</a:t>
            </a:r>
            <a:r>
              <a:rPr lang="en-GB" dirty="0"/>
              <a:t> mediation stage </a:t>
            </a:r>
            <a:r>
              <a:rPr lang="en-GB"/>
              <a:t>is operated.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37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101DBB-8E15-0F3F-7ECB-37807AA6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usefull</a:t>
            </a:r>
            <a:r>
              <a:rPr lang="it-IT" dirty="0"/>
              <a:t> ? 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207DAA-EE3C-EC95-9A54-51E5D9EB3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useful because it lets smart contracts react to trusted off-chain information - like prices, weather, documents, or external events - without depending on a single centralized provider.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ObjectID, a decentralized oracle can be used to verify and notarize external data, for example confirming that a GS1 supply-chain event or a certified document matches real-world evidence before anchoring it on-chain.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9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2C9DEC-FDCF-4E15-8CD2-D69DC2F7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Templates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A4399B-977C-58F8-1D3E-B0F93C033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Task templates in the IOTA Distributed Oracle define how oracle jobs are structured, executed, and validated on-chain.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task is based on a registered template, includes an input payload, can be executed only by compatible oracle nodes, and is finalized only when the required consensus is reached.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practice, the system supports deterministic data-fetch tasks, mediation/consensus tasks, and governance tasks for critical protocol parameters.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439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B28C3F-714E-47CB-95B0-422BA40E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US" b="1" dirty="0"/>
              <a:t>Commodity Price Task </a:t>
            </a:r>
            <a:endParaRPr lang="en-GB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1EF63B-CC1E-DCAC-8AF0-B4DE37F2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Fetches a market price from an external API using an HTTP GET request.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 nodes query </a:t>
            </a:r>
            <a:r>
              <a:rPr lang="en-US" dirty="0" err="1"/>
              <a:t>CoinGecko</a:t>
            </a:r>
            <a:r>
              <a:rPr lang="en-US" dirty="0"/>
              <a:t> for the Bitcoin/USD price, normalize the JSON response, remove volatile fields such as timestamps, and reach consensus through exact hash matching with a 67% quorum.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705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B28C3F-714E-47CB-95B0-422BA40E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US" b="1" dirty="0"/>
              <a:t>Weather Task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1EF63B-CC1E-DCAC-8AF0-B4DE37F2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Retrieves live weather data from an external API and makes it oracle-verifiable.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 nodes call Open-</a:t>
            </a:r>
            <a:r>
              <a:rPr lang="en-US" dirty="0" err="1"/>
              <a:t>Meteo</a:t>
            </a:r>
            <a:r>
              <a:rPr lang="en-US" dirty="0"/>
              <a:t> for Rome temperature data, normalize the JSON payload by removing time and environment-dependent fields, and finalize the result only if at least 67% of nodes produce the same normalized hash exact hash matching with a 67% quorum.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002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B28C3F-714E-47CB-95B0-422BA40E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US" b="1" dirty="0"/>
              <a:t>Number Mediation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1EF63B-CC1E-DCAC-8AF0-B4DE37F2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Oracle nodes query an external random-number source, then instead of requiring identical values, the protocol applies a mediation rule that computes a mean value within an allowed variance threshold before finalization.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329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32A4F-F31F-F72F-4E56-37B35149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 development: Distributed Storage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2BA2EA-F1E0-43BB-0BF2-222942AC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Retrieves a remote file, verifies that all selected nodes obtain the exact same content, and then stores a shared agreed result on-chain.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 nodes download a PDF from a URL, preserve metadata such as filename and MIME type, apply exact hash consensus.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File are stored in independent IPFS nodes.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578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478AB0-E76A-92FB-7602-5FB3E6ED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Price model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43652EC-0DB4-C47D-7DC2-3C2E9186F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54085"/>
            <a:ext cx="10515600" cy="269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28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B0053-A37D-CE60-5EBB-914CD8D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Governance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1EB343-85BD-F287-8E71-50BEF5AFB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oracle admin has a Controller Cap that grant to propose new Templates.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New templates become enabled only if the majority of the nodes approve the proposal.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337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FEEDB8-7568-B303-C5AA-AB64D919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we need you 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5A4B36-D5AD-F206-21E5-EB543948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7109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Node are randomly selected from the list of registered node.</a:t>
            </a:r>
          </a:p>
          <a:p>
            <a:pPr marL="0" indent="0">
              <a:buNone/>
            </a:pPr>
            <a:r>
              <a:rPr lang="en-GB" dirty="0"/>
              <a:t>Sign the results with a multi-signature procedure their results.</a:t>
            </a:r>
          </a:p>
          <a:p>
            <a:pPr marL="0" indent="0">
              <a:buNone/>
            </a:pPr>
            <a:r>
              <a:rPr lang="en-GB" dirty="0"/>
              <a:t>Gain the reward.</a:t>
            </a:r>
          </a:p>
          <a:p>
            <a:pPr marL="0" indent="0">
              <a:buNone/>
            </a:pPr>
            <a:r>
              <a:rPr lang="en-GB" dirty="0"/>
              <a:t>So, in theory, there are few risk of malicious behaviour.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But anonymous node can form a cartel!</a:t>
            </a:r>
          </a:p>
        </p:txBody>
      </p:sp>
      <p:pic>
        <p:nvPicPr>
          <p:cNvPr id="4100" name="Picture 4" descr="US Digital Service to NYC designers: “We need you”">
            <a:extLst>
              <a:ext uri="{FF2B5EF4-FFF2-40B4-BE49-F238E27FC236}">
                <a16:creationId xmlns:a16="http://schemas.microsoft.com/office/drawing/2014/main" id="{6B52660D-7938-346A-A3D2-14D438EE1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809" y="1825625"/>
            <a:ext cx="57150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26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FEEDB8-7568-B303-C5AA-AB64D919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The solution: only validator can run a Distributed Oracle Node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5A4B36-D5AD-F206-21E5-EB543948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idea is simple: to register to the Oracle System State as available, the node need to provide is IOTA Validator Controller CAP.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Move package checks that the validator is actually part of the IOTA validator committee.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85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1CBDCA-150C-3417-39F7-823C7EC4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Opportunity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CFDCD1-8AA8-A749-9326-9D6F1668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task has an approved price in IOTA that the client need to cover with sufficient funds.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payed</a:t>
            </a:r>
            <a:r>
              <a:rPr lang="en-GB" dirty="0"/>
              <a:t> IOTA are divided by:</a:t>
            </a:r>
          </a:p>
          <a:p>
            <a:pPr>
              <a:buFontTx/>
              <a:buChar char="-"/>
            </a:pPr>
            <a:r>
              <a:rPr lang="en-GB" dirty="0"/>
              <a:t>90% among the active node that are assigned to the task</a:t>
            </a:r>
          </a:p>
          <a:p>
            <a:pPr>
              <a:buFontTx/>
              <a:buChar char="-"/>
            </a:pPr>
            <a:r>
              <a:rPr lang="en-GB" dirty="0"/>
              <a:t>10% to the system maintainer</a:t>
            </a:r>
          </a:p>
        </p:txBody>
      </p:sp>
    </p:spTree>
    <p:extLst>
      <p:ext uri="{BB962C8B-B14F-4D97-AF65-F5344CB8AC3E}">
        <p14:creationId xmlns:p14="http://schemas.microsoft.com/office/powerpoint/2010/main" val="2105621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711</Words>
  <Application>Microsoft Office PowerPoint</Application>
  <PresentationFormat>Widescreen</PresentationFormat>
  <Paragraphs>57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di Office</vt:lpstr>
      <vt:lpstr>Introducing  IOTA  Decentralized Oracle</vt:lpstr>
      <vt:lpstr>What is a Decentralized Oracle?</vt:lpstr>
      <vt:lpstr>Architecture principles</vt:lpstr>
      <vt:lpstr>Why it is usefull ? </vt:lpstr>
      <vt:lpstr>Task Templates</vt:lpstr>
      <vt:lpstr>Example: Commodity Price Task </vt:lpstr>
      <vt:lpstr>Example: Weather Task </vt:lpstr>
      <vt:lpstr>Example: Number Mediation</vt:lpstr>
      <vt:lpstr>Under development: Distributed Storage</vt:lpstr>
      <vt:lpstr>Price model</vt:lpstr>
      <vt:lpstr>Governance</vt:lpstr>
      <vt:lpstr>Why we need you ?</vt:lpstr>
      <vt:lpstr>The solution: only validator can run a Distributed Oracle Node</vt:lpstr>
      <vt:lpstr>Opportunity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Della Valle</dc:creator>
  <cp:lastModifiedBy>Stefano Della Valle</cp:lastModifiedBy>
  <cp:revision>3</cp:revision>
  <dcterms:created xsi:type="dcterms:W3CDTF">2026-03-10T14:31:15Z</dcterms:created>
  <dcterms:modified xsi:type="dcterms:W3CDTF">2026-03-10T16:53:19Z</dcterms:modified>
</cp:coreProperties>
</file>